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6975" cx="3240405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11" roundtripDataSignature="AMtx7mjM8ufXMiGzWckqrX+4ntMEdcDQ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695325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2143125" y="695325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"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 rot="5400000">
            <a:off x="8705056" y="16517144"/>
            <a:ext cx="36863338" cy="7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 rot="5400000">
            <a:off x="-5951537" y="9302751"/>
            <a:ext cx="36863338" cy="217185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 rot="5400000">
            <a:off x="1944687" y="9756775"/>
            <a:ext cx="28513087" cy="291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/>
          <p:nvPr>
            <p:ph idx="2" type="pic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620838" y="10080625"/>
            <a:ext cx="14503400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6276638" y="10080625"/>
            <a:ext cx="14504987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5100"/>
              <a:buNone/>
              <a:defRPr/>
            </a:lvl1pPr>
            <a:lvl2pPr lvl="1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3200"/>
              <a:buNone/>
              <a:defRPr/>
            </a:lvl2pPr>
            <a:lvl3pPr lvl="2" algn="ctr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1300"/>
              <a:buNone/>
              <a:defRPr/>
            </a:lvl3pPr>
            <a:lvl4pPr lvl="3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4pPr>
            <a:lvl5pPr lvl="4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5pPr>
            <a:lvl6pPr lvl="5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6pPr>
            <a:lvl7pPr lvl="6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7pPr>
            <a:lvl8pPr lvl="7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8pPr>
            <a:lvl9pPr lvl="8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11071225" y="40044687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t/>
            </a:r>
            <a:endParaRPr b="0" i="0" sz="8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1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hyperlink" Target="https://www.kaggle.com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://www.football-data.co.uk" TargetMode="External"/><Relationship Id="rId7" Type="http://schemas.openxmlformats.org/officeDocument/2006/relationships/hyperlink" Target="http://www.football-data.co.uk" TargetMode="External"/><Relationship Id="rId8" Type="http://schemas.openxmlformats.org/officeDocument/2006/relationships/hyperlink" Target="https://www.kagg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" title="topo-banner-cet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292951" cy="4320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59238" y="349100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06838" y="1919378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988" y="22507730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 title="topo-cetam-bann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5" y="-800"/>
            <a:ext cx="32292949" cy="1710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00" y="13447404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438" y="313286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00" y="5301475"/>
            <a:ext cx="14287499" cy="7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10261600" y="277925"/>
            <a:ext cx="12117300" cy="24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AMOSTRA DE BANNERS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CURSO TÉCNICO EM 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INTELIGÊNCIA ARTIFICAL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255712" y="3373437"/>
            <a:ext cx="300753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1" lang="en-US" sz="4200">
                <a:solidFill>
                  <a:schemeClr val="dk1"/>
                </a:solidFill>
              </a:rPr>
              <a:t>APLICAÇÃO DE MACHINE LEARNING NA PREVISÃO DE DESEMPENHO DE JOGADORES DE FUTEBOL </a:t>
            </a:r>
            <a:endParaRPr b="0" i="0" sz="4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4827587" y="5191125"/>
            <a:ext cx="22682100" cy="24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lang="en-US" sz="5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Carlos Ezequiel de Souza Silva </a:t>
            </a:r>
            <a:endParaRPr b="1" i="0" sz="5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34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1 Centro de Educação Tecnológica do Amazonas Anib</a:t>
            </a: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34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l Beça - CETAM, Manaus - AM, Brasil</a:t>
            </a:r>
            <a:endParaRPr b="0" i="0" sz="3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34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E-mail para contato: </a:t>
            </a:r>
            <a:r>
              <a:rPr lang="en-US" sz="340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carlos.ezequiel.souza.silva25@gmail.com</a:t>
            </a:r>
            <a:endParaRPr b="0" i="0" sz="34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739900" y="7905750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144693" y="25199975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74700" y="16116300"/>
            <a:ext cx="81549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74700" y="9586340"/>
            <a:ext cx="14287500" cy="9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dk1"/>
                </a:solidFill>
              </a:rPr>
              <a:t>No futebol moderno, o uso de análise de dados é fundamental para otimizar o rendimento esportivo e apoiar decisões estratégicas. A identificação prévia de atletas com alto potencial em partidas específicas auxilia no planejamento de escalações e na gestão do elenco. O Machine Learning (Aprendizado de Máquina) permite identificar padrões em dados históricos para gerar previsões. Este trabalho apresenta uma abordagem baseada em aprendizado supervisionado para prever a performance de jogadores com base em estatísticas passadas. 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/>
          </a:p>
        </p:txBody>
      </p:sp>
      <p:sp>
        <p:nvSpPr>
          <p:cNvPr id="88" name="Google Shape;88;p1"/>
          <p:cNvSpPr txBox="1"/>
          <p:nvPr/>
        </p:nvSpPr>
        <p:spPr>
          <a:xfrm>
            <a:off x="558800" y="17561275"/>
            <a:ext cx="14984400" cy="7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Geral:</a:t>
            </a:r>
            <a:r>
              <a:rPr lang="en-US" sz="3900">
                <a:solidFill>
                  <a:schemeClr val="dk1"/>
                </a:solidFill>
              </a:rPr>
              <a:t> Desenvolver um modelo preditivo de Machine Learning para estimar a probabilidade de um jogador apresentar alto desempenho em partidas de futebol.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Específicos:</a:t>
            </a:r>
            <a:endParaRPr b="1"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Coletar e estruturar dados estatísticos de fontes públicas;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Selecionar e tratar as </a:t>
            </a:r>
            <a:r>
              <a:rPr i="1" lang="en-US" sz="3900">
                <a:solidFill>
                  <a:schemeClr val="dk1"/>
                </a:solidFill>
              </a:rPr>
              <a:t>features</a:t>
            </a:r>
            <a:r>
              <a:rPr lang="en-US" sz="3900">
                <a:solidFill>
                  <a:schemeClr val="dk1"/>
                </a:solidFill>
              </a:rPr>
              <a:t> mais relevantes (físicas e táticas);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Aplicar técnicas de pré-processamento nos dados;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Treinar e comparar algoritmos de classificação;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Avaliar a eficácia dos modelos por meio de métricas específicas.</a:t>
            </a:r>
            <a:endParaRPr sz="3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00">
              <a:solidFill>
                <a:schemeClr val="dk1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89999" y="26904237"/>
            <a:ext cx="14287500" cy="78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</a:rPr>
              <a:t>Fonte dos Dados:</a:t>
            </a:r>
            <a:r>
              <a:rPr lang="en-US" sz="3900">
                <a:solidFill>
                  <a:schemeClr val="dk1"/>
                </a:solidFill>
              </a:rPr>
              <a:t> Coleta em repositórios públicos como Kaggle, Football-Data.co.uk e APIs esportivas.</a:t>
            </a:r>
            <a:endParaRPr sz="3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</a:rPr>
              <a:t>Engenharia de Features:</a:t>
            </a:r>
            <a:r>
              <a:rPr lang="en-US" sz="3900">
                <a:solidFill>
                  <a:schemeClr val="dk1"/>
                </a:solidFill>
              </a:rPr>
              <a:t> Seleção de variáveis cruciais: idade, posição, minutos jogados, gols, assistências, finalizações, precisão de passes, cartões, lesões e retrospecto recente.</a:t>
            </a:r>
            <a:endParaRPr sz="3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</a:rPr>
              <a:t>Pré-processamento:</a:t>
            </a:r>
            <a:r>
              <a:rPr lang="en-US" sz="3900">
                <a:solidFill>
                  <a:schemeClr val="dk1"/>
                </a:solidFill>
              </a:rPr>
              <a:t> Limpeza de dados, tratamento de valores ausentes, remoção de inconsistências e normalização de variáveis quantitativas.</a:t>
            </a:r>
            <a:endParaRPr sz="3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</a:rPr>
              <a:t>Treinamento e Validação:</a:t>
            </a:r>
            <a:r>
              <a:rPr lang="en-US" sz="3900">
                <a:solidFill>
                  <a:schemeClr val="dk1"/>
                </a:solidFill>
              </a:rPr>
              <a:t> Divisão da base em conjuntos de treino e teste para ajuste, validação e comparação de diferentes algoritmos de classificação.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7600"/>
          </a:p>
        </p:txBody>
      </p:sp>
      <p:sp>
        <p:nvSpPr>
          <p:cNvPr id="90" name="Google Shape;90;p1"/>
          <p:cNvSpPr txBox="1"/>
          <p:nvPr/>
        </p:nvSpPr>
        <p:spPr>
          <a:xfrm>
            <a:off x="1419225" y="33928050"/>
            <a:ext cx="1428750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1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93775" y="35729849"/>
            <a:ext cx="14287500" cy="82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dk1"/>
                </a:solidFill>
              </a:rPr>
              <a:t>O projeto baseia-se em Aprendizado Supervisionado aplicado ao </a:t>
            </a:r>
            <a:r>
              <a:rPr i="1" lang="en-US" sz="3900">
                <a:solidFill>
                  <a:schemeClr val="dk1"/>
                </a:solidFill>
              </a:rPr>
              <a:t>Sports Analytics</a:t>
            </a:r>
            <a:r>
              <a:rPr lang="en-US" sz="3900">
                <a:solidFill>
                  <a:schemeClr val="dk1"/>
                </a:solidFill>
              </a:rPr>
              <a:t>. O problema é modelado como uma classificação binária: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Classe 1 (Alta performance):</a:t>
            </a:r>
            <a:r>
              <a:rPr lang="en-US" sz="3900">
                <a:solidFill>
                  <a:schemeClr val="dk1"/>
                </a:solidFill>
              </a:rPr>
              <a:t> Atletas com desempenho acima do patamar estabelecido;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Classe 0 (Baixa performance):</a:t>
            </a:r>
            <a:r>
              <a:rPr lang="en-US" sz="3900">
                <a:solidFill>
                  <a:schemeClr val="dk1"/>
                </a:solidFill>
              </a:rPr>
              <a:t> Atletas com desempenho abaixo da média esperada.</a:t>
            </a:r>
            <a:br>
              <a:rPr lang="en-US" sz="3900">
                <a:solidFill>
                  <a:schemeClr val="dk1"/>
                </a:solidFill>
              </a:rPr>
            </a:br>
            <a:r>
              <a:rPr lang="en-US" sz="3900">
                <a:solidFill>
                  <a:schemeClr val="dk1"/>
                </a:solidFill>
              </a:rPr>
              <a:t>Essa estrutura simplifica métricas contínuas em decisões objetivas, facilitando a interpretação tática para comissões técnicas.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6300"/>
          </a:p>
        </p:txBody>
      </p:sp>
      <p:sp>
        <p:nvSpPr>
          <p:cNvPr id="92" name="Google Shape;92;p1"/>
          <p:cNvSpPr txBox="1"/>
          <p:nvPr/>
        </p:nvSpPr>
        <p:spPr>
          <a:xfrm>
            <a:off x="17043400" y="22058975"/>
            <a:ext cx="12960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DISCUSSÃO E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675200" y="23427450"/>
            <a:ext cx="14287500" cy="10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dk1"/>
                </a:solidFill>
              </a:rPr>
              <a:t>Os modelos serão avaliados por meio de métricas clássicas de classificação: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Acurácia:</a:t>
            </a:r>
            <a:r>
              <a:rPr lang="en-US" sz="3900">
                <a:solidFill>
                  <a:schemeClr val="dk1"/>
                </a:solidFill>
              </a:rPr>
              <a:t> Proporção geral de acertos do modelo;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Precisão e Recall:</a:t>
            </a:r>
            <a:r>
              <a:rPr lang="en-US" sz="3900">
                <a:solidFill>
                  <a:schemeClr val="dk1"/>
                </a:solidFill>
              </a:rPr>
              <a:t> Avaliam a taxa de acerto nas previsões de alta performance e a capacidade de detectar todos os atletas de destaque;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F1-Score:</a:t>
            </a:r>
            <a:r>
              <a:rPr lang="en-US" sz="3900">
                <a:solidFill>
                  <a:schemeClr val="dk1"/>
                </a:solidFill>
              </a:rPr>
              <a:t> Média harmônica entre Precisão e Recall;</a:t>
            </a:r>
            <a:endParaRPr sz="3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dk1"/>
                </a:solidFill>
              </a:rPr>
              <a:t>Curva AUC-ROC:</a:t>
            </a:r>
            <a:r>
              <a:rPr lang="en-US" sz="3900">
                <a:solidFill>
                  <a:schemeClr val="dk1"/>
                </a:solidFill>
              </a:rPr>
              <a:t> Avalia a capacidade do algoritmo em discriminar entre as duas classes.</a:t>
            </a:r>
            <a:br>
              <a:rPr lang="en-US" sz="3900">
                <a:solidFill>
                  <a:schemeClr val="dk1"/>
                </a:solidFill>
              </a:rPr>
            </a:br>
            <a:r>
              <a:rPr b="1" lang="en-US" sz="3900">
                <a:solidFill>
                  <a:schemeClr val="dk1"/>
                </a:solidFill>
              </a:rPr>
              <a:t>Impacto Esperado:</a:t>
            </a:r>
            <a:r>
              <a:rPr lang="en-US" sz="3900">
                <a:solidFill>
                  <a:schemeClr val="dk1"/>
                </a:solidFill>
              </a:rPr>
              <a:t> Fornecer suporte analítico a clubes e treinadores para tomada de decisão fundamentada em evidências estatísticas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5900"/>
          </a:p>
        </p:txBody>
      </p:sp>
      <p:sp>
        <p:nvSpPr>
          <p:cNvPr id="94" name="Google Shape;94;p1"/>
          <p:cNvSpPr txBox="1"/>
          <p:nvPr/>
        </p:nvSpPr>
        <p:spPr>
          <a:xfrm>
            <a:off x="17345025" y="37684075"/>
            <a:ext cx="7172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7049750" y="39216012"/>
            <a:ext cx="14287500" cy="4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FOOTBALL-DATA.CO.UK. </a:t>
            </a:r>
            <a:r>
              <a:rPr b="1" lang="en-US" sz="3600">
                <a:solidFill>
                  <a:schemeClr val="dk1"/>
                </a:solidFill>
              </a:rPr>
              <a:t>Historical Football Results &amp; Odds Data</a:t>
            </a:r>
            <a:r>
              <a:rPr lang="en-US" sz="3600">
                <a:solidFill>
                  <a:schemeClr val="dk1"/>
                </a:solidFill>
              </a:rPr>
              <a:t>. Disponível em:</a:t>
            </a:r>
            <a:r>
              <a:rPr lang="en-US" sz="36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3600" u="sng">
                <a:solidFill>
                  <a:schemeClr val="hlink"/>
                </a:solidFill>
                <a:hlinkClick r:id="rId7"/>
              </a:rPr>
              <a:t>http://www.football-data.co.uk</a:t>
            </a:r>
            <a:r>
              <a:rPr lang="en-US" sz="3600">
                <a:solidFill>
                  <a:schemeClr val="dk1"/>
                </a:solidFill>
              </a:rPr>
              <a:t>. Acesso em: 2026.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KAGGLE. </a:t>
            </a:r>
            <a:r>
              <a:rPr b="1" lang="en-US" sz="3600">
                <a:solidFill>
                  <a:schemeClr val="dk1"/>
                </a:solidFill>
              </a:rPr>
              <a:t>Football Data &amp; Player Statistics</a:t>
            </a:r>
            <a:r>
              <a:rPr lang="en-US" sz="3600">
                <a:solidFill>
                  <a:schemeClr val="dk1"/>
                </a:solidFill>
              </a:rPr>
              <a:t>. Disponível em:</a:t>
            </a:r>
            <a:r>
              <a:rPr lang="en-US" sz="36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3600" u="sng">
                <a:solidFill>
                  <a:schemeClr val="hlink"/>
                </a:solidFill>
                <a:hlinkClick r:id="rId9"/>
              </a:rPr>
              <a:t>https://www.kaggle.com</a:t>
            </a:r>
            <a:r>
              <a:rPr lang="en-US" sz="3600">
                <a:solidFill>
                  <a:schemeClr val="dk1"/>
                </a:solidFill>
              </a:rPr>
              <a:t>. Acesso em: 2026.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MITCHELL, Tom M. </a:t>
            </a:r>
            <a:r>
              <a:rPr b="1" lang="en-US" sz="3600">
                <a:solidFill>
                  <a:schemeClr val="dk1"/>
                </a:solidFill>
              </a:rPr>
              <a:t>Machine Learning</a:t>
            </a:r>
            <a:r>
              <a:rPr lang="en-US" sz="3600">
                <a:solidFill>
                  <a:schemeClr val="dk1"/>
                </a:solidFill>
              </a:rPr>
              <a:t>. New York: McGraw-Hill, 1997.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7573625" y="20900323"/>
            <a:ext cx="4287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4. Legenda da figura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7573625" y="36654125"/>
            <a:ext cx="3786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5. Legenda da figura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622137" y="35995675"/>
            <a:ext cx="3786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6. Legenda da figura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9029700" y="2463725"/>
            <a:ext cx="1257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TECNOLOGIA	.	INOVAÇÃO		.	EDUCAÇÃO		.	AMAZÔNIA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409200" y="7561527"/>
            <a:ext cx="15508251" cy="1332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1">
            <a:alphaModFix/>
          </a:blip>
          <a:srcRect b="6500" l="-10830" r="10830" t="-6500"/>
          <a:stretch/>
        </p:blipFill>
        <p:spPr>
          <a:xfrm>
            <a:off x="17043400" y="32062153"/>
            <a:ext cx="12960298" cy="4896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2014-09-15T23:22:55Z</dcterms:created>
  <dc:creator>Marcia</dc:creator>
</cp:coreProperties>
</file>